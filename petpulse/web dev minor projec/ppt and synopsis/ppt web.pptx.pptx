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MT Bold" charset="1" panose="02030802070405020303"/>
      <p:regular r:id="rId16"/>
    </p:embeddedFont>
    <p:embeddedFont>
      <p:font typeface="Times New Roman MT" charset="1" panose="02030502070405020303"/>
      <p:regular r:id="rId17"/>
    </p:embeddedFont>
    <p:embeddedFont>
      <p:font typeface="Aptos" charset="1" panose="020B0004020202020204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Lucky Bones" charset="1" panose="00000800000000000000"/>
      <p:regular r:id="rId21"/>
    </p:embeddedFont>
    <p:embeddedFont>
      <p:font typeface="TT Commons Pro" charset="1" panose="020B01030301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55859"/>
            <a:ext cx="16080378" cy="827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SYNOPSIS Presentation 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</a:t>
            </a:r>
          </a:p>
          <a:p>
            <a:pPr algn="ctr">
              <a:lnSpc>
                <a:spcPts val="4966"/>
              </a:lnSpc>
            </a:pPr>
            <a:r>
              <a:rPr lang="en-US" sz="36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PET PULSE -“pet care &amp; </a:t>
            </a:r>
          </a:p>
          <a:p>
            <a:pPr algn="ctr">
              <a:lnSpc>
                <a:spcPts val="4966"/>
              </a:lnSpc>
            </a:pPr>
            <a:r>
              <a:rPr lang="en-US" sz="36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adoption platform”</a:t>
            </a:r>
          </a:p>
          <a:p>
            <a:pPr algn="ctr">
              <a:lnSpc>
                <a:spcPts val="540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by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Anshika</a:t>
            </a: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Singh        202510116100039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Abhishek Kumar</a:t>
            </a: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202510116100008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Anand Chandra        </a:t>
            </a: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202510116100026</a:t>
            </a:r>
          </a:p>
          <a:p>
            <a:pPr algn="ctr">
              <a:lnSpc>
                <a:spcPts val="4140"/>
              </a:lnSpc>
            </a:pP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Session:2025-2026 (I Semester)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  </a:t>
            </a:r>
          </a:p>
          <a:p>
            <a:pPr algn="ctr">
              <a:lnSpc>
                <a:spcPts val="4140"/>
              </a:lnSpc>
            </a:pPr>
            <a:r>
              <a:rPr lang="en-US" sz="300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 the supervision of 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Mr. Vijay kumar sir (assistant professor)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Department Of Computer Applications</a:t>
            </a:r>
          </a:p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KIET GROUP OF INSTITUTIONS, DELHI-NCR, GHAZIABAD-201206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6618986" cy="1830959"/>
            <a:chOff x="0" y="0"/>
            <a:chExt cx="8825315" cy="2441279"/>
          </a:xfrm>
        </p:grpSpPr>
        <p:sp>
          <p:nvSpPr>
            <p:cNvPr name="Freeform 4" id="4" descr="A close-up of a logoAI-generated content may be incorrect."/>
            <p:cNvSpPr/>
            <p:nvPr/>
          </p:nvSpPr>
          <p:spPr>
            <a:xfrm flipH="false" flipV="false" rot="0">
              <a:off x="0" y="0"/>
              <a:ext cx="8825357" cy="2441321"/>
            </a:xfrm>
            <a:custGeom>
              <a:avLst/>
              <a:gdLst/>
              <a:ahLst/>
              <a:cxnLst/>
              <a:rect r="r" b="b" t="t" l="l"/>
              <a:pathLst>
                <a:path h="2441321" w="8825357">
                  <a:moveTo>
                    <a:pt x="0" y="0"/>
                  </a:moveTo>
                  <a:lnTo>
                    <a:pt x="8825357" y="0"/>
                  </a:lnTo>
                  <a:lnTo>
                    <a:pt x="8825357" y="2441321"/>
                  </a:lnTo>
                  <a:lnTo>
                    <a:pt x="0" y="2441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" r="0" b="-8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901408" cy="1972056"/>
            <a:chOff x="0" y="0"/>
            <a:chExt cx="26535211" cy="26294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35252" cy="2629408"/>
            </a:xfrm>
            <a:custGeom>
              <a:avLst/>
              <a:gdLst/>
              <a:ahLst/>
              <a:cxnLst/>
              <a:rect r="r" b="b" t="t" l="l"/>
              <a:pathLst>
                <a:path h="2629408" w="26535252">
                  <a:moveTo>
                    <a:pt x="0" y="0"/>
                  </a:moveTo>
                  <a:lnTo>
                    <a:pt x="26535252" y="0"/>
                  </a:lnTo>
                  <a:lnTo>
                    <a:pt x="26535252" y="2629408"/>
                  </a:lnTo>
                  <a:lnTo>
                    <a:pt x="0" y="2629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677" r="0" b="-176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818880" cy="1868424"/>
            <a:chOff x="0" y="0"/>
            <a:chExt cx="11758507" cy="24912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8549" cy="2491232"/>
            </a:xfrm>
            <a:custGeom>
              <a:avLst/>
              <a:gdLst/>
              <a:ahLst/>
              <a:cxnLst/>
              <a:rect r="r" b="b" t="t" l="l"/>
              <a:pathLst>
                <a:path h="2491232" w="11758549">
                  <a:moveTo>
                    <a:pt x="0" y="0"/>
                  </a:moveTo>
                  <a:lnTo>
                    <a:pt x="11758549" y="0"/>
                  </a:lnTo>
                  <a:lnTo>
                    <a:pt x="11758549" y="2491232"/>
                  </a:lnTo>
                  <a:lnTo>
                    <a:pt x="0" y="2491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586" r="0" b="-165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9710400" cy="1828800"/>
            <a:chOff x="0" y="0"/>
            <a:chExt cx="26280533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80492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280492">
                  <a:moveTo>
                    <a:pt x="0" y="0"/>
                  </a:moveTo>
                  <a:lnTo>
                    <a:pt x="26280492" y="0"/>
                  </a:lnTo>
                  <a:lnTo>
                    <a:pt x="26280492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20925537" cy="1728343"/>
            <a:chOff x="0" y="0"/>
            <a:chExt cx="27900716" cy="2304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00756" cy="2304415"/>
            </a:xfrm>
            <a:custGeom>
              <a:avLst/>
              <a:gdLst/>
              <a:ahLst/>
              <a:cxnLst/>
              <a:rect r="r" b="b" t="t" l="l"/>
              <a:pathLst>
                <a:path h="2304415" w="27900756">
                  <a:moveTo>
                    <a:pt x="0" y="0"/>
                  </a:moveTo>
                  <a:lnTo>
                    <a:pt x="27900756" y="0"/>
                  </a:lnTo>
                  <a:lnTo>
                    <a:pt x="27900756" y="2304415"/>
                  </a:lnTo>
                  <a:lnTo>
                    <a:pt x="0" y="2304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914" r="0" b="-1791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3423392" cy="2508504"/>
            <a:chOff x="0" y="0"/>
            <a:chExt cx="17897856" cy="334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97856" cy="3344672"/>
            </a:xfrm>
            <a:custGeom>
              <a:avLst/>
              <a:gdLst/>
              <a:ahLst/>
              <a:cxnLst/>
              <a:rect r="r" b="b" t="t" l="l"/>
              <a:pathLst>
                <a:path h="3344672" w="17897856">
                  <a:moveTo>
                    <a:pt x="0" y="0"/>
                  </a:moveTo>
                  <a:lnTo>
                    <a:pt x="17897856" y="0"/>
                  </a:lnTo>
                  <a:lnTo>
                    <a:pt x="17897856" y="3344672"/>
                  </a:lnTo>
                  <a:lnTo>
                    <a:pt x="0" y="334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805" r="0" b="-168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20734528" cy="1584960"/>
            <a:chOff x="0" y="0"/>
            <a:chExt cx="27646037" cy="2113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491" r="0" b="-1649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1389" y="2969742"/>
            <a:ext cx="16297911" cy="614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775" b="true">
                <a:solidFill>
                  <a:srgbClr val="3741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Vision : </a:t>
            </a:r>
          </a:p>
          <a:p>
            <a:pPr algn="l">
              <a:lnSpc>
                <a:spcPts val="3496"/>
              </a:lnSpc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Create empowered, competently skilled, and employable professionals geared for the rapidly evolving &amp; </a:t>
            </a:r>
          </a:p>
          <a:p>
            <a:pPr algn="l">
              <a:lnSpc>
                <a:spcPts val="3496"/>
              </a:lnSpc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technologically disruptive world. Unleashing the untapped and unearthed potential of the students to meet industry demands. Produce motivated and committed scholars who contribute to global growth.</a:t>
            </a:r>
          </a:p>
          <a:p>
            <a:pPr algn="l">
              <a:lnSpc>
                <a:spcPts val="3146"/>
              </a:lnSpc>
            </a:pPr>
            <a:r>
              <a:rPr lang="en-US" sz="2497" b="true">
                <a:solidFill>
                  <a:srgbClr val="3741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Mission : 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provide digital and professional communication skills directed towards a result-oriented mindset powered with a heightened sense of value system and work ethics.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admirable aptitude expertise and logical orientation towards problem solving.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ensure ethnic sensitization and gender parity for synergistic collaboration and assimilation at the workplace.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master finesse and polished behaviour empowered with skill upgradation and drafting sure shot route for employability and entrepreneurship.</a:t>
            </a:r>
          </a:p>
          <a:p>
            <a:pPr algn="l" marL="1126808" indent="-281702" lvl="3">
              <a:lnSpc>
                <a:spcPts val="3496"/>
              </a:lnSpc>
              <a:buAutoNum type="arabicPeriod" startAt="1"/>
            </a:pPr>
            <a:r>
              <a:rPr lang="en-US" sz="27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guide students towards turning their dreams into reality by aptly choosing a suitable stream of higher education and/or competitive examinations.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-95250"/>
            <a:ext cx="20753916" cy="1149198"/>
            <a:chOff x="0" y="0"/>
            <a:chExt cx="27671888" cy="15322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671889" cy="1532264"/>
            </a:xfrm>
            <a:custGeom>
              <a:avLst/>
              <a:gdLst/>
              <a:ahLst/>
              <a:cxnLst/>
              <a:rect r="r" b="b" t="t" l="l"/>
              <a:pathLst>
                <a:path h="1532264" w="27671889">
                  <a:moveTo>
                    <a:pt x="0" y="0"/>
                  </a:moveTo>
                  <a:lnTo>
                    <a:pt x="27671889" y="0"/>
                  </a:lnTo>
                  <a:lnTo>
                    <a:pt x="27671889" y="1532264"/>
                  </a:lnTo>
                  <a:lnTo>
                    <a:pt x="0" y="15322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27671888" cy="1627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spc="-3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Vision and Mission of Institute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28575"/>
            <a:ext cx="651934" cy="279201"/>
            <a:chOff x="0" y="0"/>
            <a:chExt cx="869245" cy="372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9245" cy="372268"/>
            </a:xfrm>
            <a:custGeom>
              <a:avLst/>
              <a:gdLst/>
              <a:ahLst/>
              <a:cxnLst/>
              <a:rect r="r" b="b" t="t" l="l"/>
              <a:pathLst>
                <a:path h="372268" w="869245">
                  <a:moveTo>
                    <a:pt x="0" y="0"/>
                  </a:moveTo>
                  <a:lnTo>
                    <a:pt x="869245" y="0"/>
                  </a:lnTo>
                  <a:lnTo>
                    <a:pt x="869245" y="372268"/>
                  </a:lnTo>
                  <a:lnTo>
                    <a:pt x="0" y="372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869245" cy="34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58"/>
                </a:lnSpc>
              </a:pPr>
              <a:r>
                <a:rPr lang="en-US" sz="1800" spc="-74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-302283"/>
            <a:ext cx="2878623" cy="2810787"/>
            <a:chOff x="0" y="0"/>
            <a:chExt cx="3518408" cy="3435495"/>
          </a:xfrm>
        </p:grpSpPr>
        <p:sp>
          <p:nvSpPr>
            <p:cNvPr name="Freeform 22" id="22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901408" cy="1972056"/>
            <a:chOff x="0" y="0"/>
            <a:chExt cx="26535211" cy="26294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35252" cy="2629408"/>
            </a:xfrm>
            <a:custGeom>
              <a:avLst/>
              <a:gdLst/>
              <a:ahLst/>
              <a:cxnLst/>
              <a:rect r="r" b="b" t="t" l="l"/>
              <a:pathLst>
                <a:path h="2629408" w="26535252">
                  <a:moveTo>
                    <a:pt x="0" y="0"/>
                  </a:moveTo>
                  <a:lnTo>
                    <a:pt x="26535252" y="0"/>
                  </a:lnTo>
                  <a:lnTo>
                    <a:pt x="26535252" y="2629408"/>
                  </a:lnTo>
                  <a:lnTo>
                    <a:pt x="0" y="2629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677" r="0" b="-176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818880" cy="1868424"/>
            <a:chOff x="0" y="0"/>
            <a:chExt cx="11758507" cy="24912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8549" cy="2491232"/>
            </a:xfrm>
            <a:custGeom>
              <a:avLst/>
              <a:gdLst/>
              <a:ahLst/>
              <a:cxnLst/>
              <a:rect r="r" b="b" t="t" l="l"/>
              <a:pathLst>
                <a:path h="2491232" w="11758549">
                  <a:moveTo>
                    <a:pt x="0" y="0"/>
                  </a:moveTo>
                  <a:lnTo>
                    <a:pt x="11758549" y="0"/>
                  </a:lnTo>
                  <a:lnTo>
                    <a:pt x="11758549" y="2491232"/>
                  </a:lnTo>
                  <a:lnTo>
                    <a:pt x="0" y="2491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586" r="0" b="-165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9710400" cy="1828800"/>
            <a:chOff x="0" y="0"/>
            <a:chExt cx="26280533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80492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280492">
                  <a:moveTo>
                    <a:pt x="0" y="0"/>
                  </a:moveTo>
                  <a:lnTo>
                    <a:pt x="26280492" y="0"/>
                  </a:lnTo>
                  <a:lnTo>
                    <a:pt x="26280492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20925537" cy="1728343"/>
            <a:chOff x="0" y="0"/>
            <a:chExt cx="27900716" cy="2304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00756" cy="2304415"/>
            </a:xfrm>
            <a:custGeom>
              <a:avLst/>
              <a:gdLst/>
              <a:ahLst/>
              <a:cxnLst/>
              <a:rect r="r" b="b" t="t" l="l"/>
              <a:pathLst>
                <a:path h="2304415" w="27900756">
                  <a:moveTo>
                    <a:pt x="0" y="0"/>
                  </a:moveTo>
                  <a:lnTo>
                    <a:pt x="27900756" y="0"/>
                  </a:lnTo>
                  <a:lnTo>
                    <a:pt x="27900756" y="2304415"/>
                  </a:lnTo>
                  <a:lnTo>
                    <a:pt x="0" y="2304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914" r="0" b="-1791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3423392" cy="2508504"/>
            <a:chOff x="0" y="0"/>
            <a:chExt cx="17897856" cy="334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97856" cy="3344672"/>
            </a:xfrm>
            <a:custGeom>
              <a:avLst/>
              <a:gdLst/>
              <a:ahLst/>
              <a:cxnLst/>
              <a:rect r="r" b="b" t="t" l="l"/>
              <a:pathLst>
                <a:path h="3344672" w="17897856">
                  <a:moveTo>
                    <a:pt x="0" y="0"/>
                  </a:moveTo>
                  <a:lnTo>
                    <a:pt x="17897856" y="0"/>
                  </a:lnTo>
                  <a:lnTo>
                    <a:pt x="17897856" y="3344672"/>
                  </a:lnTo>
                  <a:lnTo>
                    <a:pt x="0" y="334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805" r="0" b="-168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20734528" cy="1584960"/>
            <a:chOff x="0" y="0"/>
            <a:chExt cx="27646037" cy="2113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491" r="0" b="-1649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1391" y="2504813"/>
            <a:ext cx="16297911" cy="751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413" indent="-211138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3741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Vision of the Department: 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achieve excellence in the education of computer applications that can address industrial and societal issues globally.</a:t>
            </a:r>
          </a:p>
          <a:p>
            <a:pPr algn="l" marL="633413" indent="-211138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3741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Mission of the Department: 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1. To provide relevant and advanced computer application concepts through outcome-based education.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 To provide a conducive environment for innovative and multidisciplinary research which significantly impacts society.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3. To develop professional competence and employability skills through industry interactions and specialized courses.</a:t>
            </a:r>
          </a:p>
          <a:p>
            <a:pPr algn="l" marL="633413" indent="-211138" lvl="2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4. To create ethically and socially responsible professionals for the overall development of IT sector.</a:t>
            </a:r>
          </a:p>
          <a:p>
            <a:pPr algn="l" marL="633413" indent="-211138" lvl="2">
              <a:lnSpc>
                <a:spcPts val="4200"/>
              </a:lnSpc>
            </a:pPr>
          </a:p>
          <a:p>
            <a:pPr algn="l" marL="633413" indent="-211138" lvl="2">
              <a:lnSpc>
                <a:spcPts val="420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-95250"/>
            <a:ext cx="20753916" cy="1149198"/>
            <a:chOff x="0" y="0"/>
            <a:chExt cx="27671888" cy="15322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671889" cy="1532264"/>
            </a:xfrm>
            <a:custGeom>
              <a:avLst/>
              <a:gdLst/>
              <a:ahLst/>
              <a:cxnLst/>
              <a:rect r="r" b="b" t="t" l="l"/>
              <a:pathLst>
                <a:path h="1532264" w="27671889">
                  <a:moveTo>
                    <a:pt x="0" y="0"/>
                  </a:moveTo>
                  <a:lnTo>
                    <a:pt x="27671889" y="0"/>
                  </a:lnTo>
                  <a:lnTo>
                    <a:pt x="27671889" y="1532264"/>
                  </a:lnTo>
                  <a:lnTo>
                    <a:pt x="0" y="15322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27671888" cy="1627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spc="-3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Vision and Mission of Department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28575"/>
            <a:ext cx="651934" cy="279201"/>
            <a:chOff x="0" y="0"/>
            <a:chExt cx="869245" cy="3722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9245" cy="372268"/>
            </a:xfrm>
            <a:custGeom>
              <a:avLst/>
              <a:gdLst/>
              <a:ahLst/>
              <a:cxnLst/>
              <a:rect r="r" b="b" t="t" l="l"/>
              <a:pathLst>
                <a:path h="372268" w="869245">
                  <a:moveTo>
                    <a:pt x="0" y="0"/>
                  </a:moveTo>
                  <a:lnTo>
                    <a:pt x="869245" y="0"/>
                  </a:lnTo>
                  <a:lnTo>
                    <a:pt x="869245" y="372268"/>
                  </a:lnTo>
                  <a:lnTo>
                    <a:pt x="0" y="372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869245" cy="343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58"/>
                </a:lnSpc>
              </a:pPr>
              <a:r>
                <a:rPr lang="en-US" sz="1800" spc="-74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-419365"/>
            <a:ext cx="2878623" cy="2810787"/>
            <a:chOff x="0" y="0"/>
            <a:chExt cx="3518408" cy="3435495"/>
          </a:xfrm>
        </p:grpSpPr>
        <p:sp>
          <p:nvSpPr>
            <p:cNvPr name="Freeform 22" id="22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9662" y="647370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48512" y="1028700"/>
            <a:ext cx="7444730" cy="84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2"/>
              </a:lnSpc>
            </a:pPr>
            <a:r>
              <a:rPr lang="en-US" b="true" sz="5599" spc="-1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22603" y="2521468"/>
            <a:ext cx="15904597" cy="755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2"/>
              </a:lnSpc>
            </a:pP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⟶ This project titled “Pet pulse Website” is designed to help users find, adopt, and care for pets more efficiently.</a:t>
            </a:r>
          </a:p>
          <a:p>
            <a:pPr algn="ctr">
              <a:lnSpc>
                <a:spcPts val="5462"/>
              </a:lnSpc>
            </a:pP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⟶  </a:t>
            </a: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serves as a user-friendly web platform where users can explore pet listings with images and details, and fill out an adoption inquiry form to express interest.</a:t>
            </a:r>
          </a:p>
          <a:p>
            <a:pPr algn="ctr">
              <a:lnSpc>
                <a:spcPts val="5462"/>
              </a:lnSpc>
            </a:pP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⟶ </a:t>
            </a: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project aims to bridge the gap between pet owners and adopters, promoting animal welfare and responsible pet adoption.</a:t>
            </a:r>
          </a:p>
          <a:p>
            <a:pPr algn="ctr">
              <a:lnSpc>
                <a:spcPts val="5462"/>
              </a:lnSpc>
            </a:pP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⟶  </a:t>
            </a:r>
            <a:r>
              <a:rPr lang="en-US" sz="3901" spc="-1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Its significance lies in creating a digital hub for animal lovers, providing information and awareness about caring for pets, and encouraging adoption instead of purchase.</a:t>
            </a:r>
          </a:p>
          <a:p>
            <a:pPr algn="ctr" marL="823522" indent="-274507" lvl="2">
              <a:lnSpc>
                <a:spcPts val="5043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201017" y="-136919"/>
            <a:ext cx="2878623" cy="2810787"/>
            <a:chOff x="0" y="0"/>
            <a:chExt cx="3518408" cy="3435495"/>
          </a:xfrm>
        </p:grpSpPr>
        <p:sp>
          <p:nvSpPr>
            <p:cNvPr name="Freeform 7" id="7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31190" y="236220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4480" y="467000"/>
            <a:ext cx="7444730" cy="195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 spc="-1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</a:p>
          <a:p>
            <a:pPr algn="ctr">
              <a:lnSpc>
                <a:spcPts val="78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374390" y="2769236"/>
            <a:ext cx="12884910" cy="499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14430" indent="-304810" lvl="2">
              <a:lnSpc>
                <a:spcPts val="5600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 a platform to show available pets</a:t>
            </a:r>
          </a:p>
          <a:p>
            <a:pPr algn="just" marL="914430" indent="-304810" lvl="2">
              <a:lnSpc>
                <a:spcPts val="5600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Create an adoption inquiry form (for interested adopters)</a:t>
            </a:r>
          </a:p>
          <a:p>
            <a:pPr algn="just" marL="914430" indent="-304810" lvl="2">
              <a:lnSpc>
                <a:spcPts val="5600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 using HTML + CSS (frontend only)</a:t>
            </a:r>
          </a:p>
          <a:p>
            <a:pPr algn="just" marL="914430" indent="-304810" lvl="2">
              <a:lnSpc>
                <a:spcPts val="5600"/>
              </a:lnSpc>
              <a:buFont typeface="Arial"/>
              <a:buChar char="⚬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Future scope: add backend + database to save adoption requests</a:t>
            </a:r>
          </a:p>
          <a:p>
            <a:pPr algn="just" marL="914430" indent="-304810" lvl="2">
              <a:lnSpc>
                <a:spcPts val="56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36717" y="8017159"/>
            <a:ext cx="2694473" cy="2482283"/>
            <a:chOff x="0" y="0"/>
            <a:chExt cx="5382416" cy="4958551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5382387" cy="4958588"/>
            </a:xfrm>
            <a:custGeom>
              <a:avLst/>
              <a:gdLst/>
              <a:ahLst/>
              <a:cxnLst/>
              <a:rect r="r" b="b" t="t" l="l"/>
              <a:pathLst>
                <a:path h="4958588" w="5382387">
                  <a:moveTo>
                    <a:pt x="5382387" y="0"/>
                  </a:moveTo>
                  <a:lnTo>
                    <a:pt x="0" y="0"/>
                  </a:lnTo>
                  <a:lnTo>
                    <a:pt x="0" y="4958588"/>
                  </a:lnTo>
                  <a:lnTo>
                    <a:pt x="5382387" y="4958588"/>
                  </a:lnTo>
                  <a:lnTo>
                    <a:pt x="5382387" y="0"/>
                  </a:lnTo>
                  <a:close/>
                </a:path>
              </a:pathLst>
            </a:custGeom>
            <a:blipFill>
              <a:blip r:embed="rId3"/>
              <a:stretch>
                <a:fillRect l="0" t="-49" r="0" b="-4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567" y="0"/>
            <a:ext cx="2878623" cy="2810787"/>
            <a:chOff x="0" y="0"/>
            <a:chExt cx="3518408" cy="3435495"/>
          </a:xfrm>
        </p:grpSpPr>
        <p:sp>
          <p:nvSpPr>
            <p:cNvPr name="Freeform 9" id="9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38806" y="468044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660346" y="553933"/>
            <a:ext cx="7444730" cy="10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b="true" sz="6098" spc="-1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8011" y="2523043"/>
            <a:ext cx="15649194" cy="748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Project Scope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scope of the Pet Care Website includes: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Displaying pets available for adoption with photos and short descriptions.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Allowing users to fill and submit an adoption form.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Designing a fully responsive, frontend-only system using HTML and CSS.</a:t>
            </a:r>
          </a:p>
          <a:p>
            <a:pPr algn="just">
              <a:lnSpc>
                <a:spcPts val="4900"/>
              </a:lnSpc>
            </a:pPr>
            <a:r>
              <a:rPr lang="en-US" b="true" sz="3500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Inclusions: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Pet listing gallery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Adoption inquiry form</a:t>
            </a:r>
          </a:p>
          <a:p>
            <a:pPr algn="just" marL="800102" indent="-400051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Responsive layoute</a:t>
            </a:r>
          </a:p>
          <a:p>
            <a:pPr algn="just">
              <a:lnSpc>
                <a:spcPts val="4900"/>
              </a:lnSpc>
            </a:pPr>
            <a:r>
              <a:rPr lang="en-US" b="true" sz="3500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Exclusions:</a:t>
            </a:r>
          </a:p>
          <a:p>
            <a:pPr algn="just" marL="1511304" indent="-503768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backend</a:t>
            </a:r>
          </a:p>
          <a:p>
            <a:pPr algn="just" marL="1511304" indent="-503768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real-time database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8658470"/>
            <a:ext cx="1972615" cy="1938070"/>
            <a:chOff x="0" y="0"/>
            <a:chExt cx="5584191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8419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584190">
                  <a:moveTo>
                    <a:pt x="0" y="0"/>
                  </a:moveTo>
                  <a:lnTo>
                    <a:pt x="5584190" y="0"/>
                  </a:lnTo>
                  <a:lnTo>
                    <a:pt x="558419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81" r="0" b="-678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410611" y="-144869"/>
            <a:ext cx="2878623" cy="2810787"/>
            <a:chOff x="0" y="0"/>
            <a:chExt cx="3518408" cy="3435495"/>
          </a:xfrm>
        </p:grpSpPr>
        <p:sp>
          <p:nvSpPr>
            <p:cNvPr name="Freeform 9" id="9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86852" y="683362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11880" y="800100"/>
            <a:ext cx="7444730" cy="10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b="true" sz="6098" spc="-1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2258655" cy="2951683"/>
            <a:chOff x="0" y="0"/>
            <a:chExt cx="3518408" cy="4597969"/>
          </a:xfrm>
        </p:grpSpPr>
        <p:sp>
          <p:nvSpPr>
            <p:cNvPr name="Freeform 6" id="6" descr="KIET Group of Institutions, Delhi-NCR - YouTube"/>
            <p:cNvSpPr/>
            <p:nvPr/>
          </p:nvSpPr>
          <p:spPr>
            <a:xfrm flipH="false" flipV="false" rot="0">
              <a:off x="0" y="0"/>
              <a:ext cx="3518408" cy="4597908"/>
            </a:xfrm>
            <a:custGeom>
              <a:avLst/>
              <a:gdLst/>
              <a:ahLst/>
              <a:cxnLst/>
              <a:rect r="r" b="b" t="t" l="l"/>
              <a:pathLst>
                <a:path h="4597908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4597908"/>
                  </a:lnTo>
                  <a:lnTo>
                    <a:pt x="0" y="4597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41" t="0" r="-15341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638806" y="2654364"/>
            <a:ext cx="15357670" cy="655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0"/>
              </a:lnSpc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project follows a Waterfall Development Model with the following stages: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Requirement Analysis: Identifying the need for an easy pet adoption platform.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Design: Creating the website layout after checking different webpages.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Implementation: Writing HTML and CSS code for the homepage, listing, and form sections.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Testing: Checking responsiveness and fixing alignment or UI issues.</a:t>
            </a:r>
          </a:p>
          <a:p>
            <a:pPr algn="just" marL="845821" indent="-422911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Deployment: Hosting locally or on GitHub Pages (future).</a:t>
            </a:r>
          </a:p>
          <a:p>
            <a:pPr algn="just" marL="754409" indent="-251470" lvl="2">
              <a:lnSpc>
                <a:spcPts val="462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3208" y="582600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638806" cy="3448477"/>
            <a:chOff x="0" y="0"/>
            <a:chExt cx="3518408" cy="4597969"/>
          </a:xfrm>
        </p:grpSpPr>
        <p:sp>
          <p:nvSpPr>
            <p:cNvPr name="Freeform 5" id="5" descr="KIET Group of Institutions, Delhi-NCR - YouTube"/>
            <p:cNvSpPr/>
            <p:nvPr/>
          </p:nvSpPr>
          <p:spPr>
            <a:xfrm flipH="false" flipV="false" rot="0">
              <a:off x="0" y="0"/>
              <a:ext cx="3518408" cy="4597908"/>
            </a:xfrm>
            <a:custGeom>
              <a:avLst/>
              <a:gdLst/>
              <a:ahLst/>
              <a:cxnLst/>
              <a:rect r="r" b="b" t="t" l="l"/>
              <a:pathLst>
                <a:path h="4597908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4597908"/>
                  </a:lnTo>
                  <a:lnTo>
                    <a:pt x="0" y="4597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41" t="0" r="-15341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221641" y="7821731"/>
            <a:ext cx="3364879" cy="4337116"/>
            <a:chOff x="0" y="0"/>
            <a:chExt cx="7217847" cy="9303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17791" cy="9303385"/>
            </a:xfrm>
            <a:custGeom>
              <a:avLst/>
              <a:gdLst/>
              <a:ahLst/>
              <a:cxnLst/>
              <a:rect r="r" b="b" t="t" l="l"/>
              <a:pathLst>
                <a:path h="9303385" w="7217791">
                  <a:moveTo>
                    <a:pt x="0" y="0"/>
                  </a:moveTo>
                  <a:lnTo>
                    <a:pt x="7217791" y="0"/>
                  </a:lnTo>
                  <a:lnTo>
                    <a:pt x="7217791" y="9303385"/>
                  </a:lnTo>
                  <a:lnTo>
                    <a:pt x="0" y="9303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" r="0" b="-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011880" y="800100"/>
            <a:ext cx="10429680" cy="10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b="true" sz="6098" spc="-1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Gantt Chart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3234585" y="2322664"/>
          <a:ext cx="13077322" cy="7667625"/>
        </p:xfrm>
        <a:graphic>
          <a:graphicData uri="http://schemas.openxmlformats.org/drawingml/2006/table">
            <a:tbl>
              <a:tblPr/>
              <a:tblGrid>
                <a:gridCol w="4823863"/>
                <a:gridCol w="4823863"/>
                <a:gridCol w="3429595"/>
              </a:tblGrid>
              <a:tr h="8010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Task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Duration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requirment analysis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Requirement gathering &amp; planning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system design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Website design &amp; UI structure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development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HTML coding for main pages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testing design responsiveness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3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documentation &amp; presentation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preparing synopsis and presentation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525"/>
                        </a:lnSpc>
                        <a:defRPr/>
                      </a:pPr>
                      <a:r>
                        <a:rPr lang="en-US" sz="3232">
                          <a:solidFill>
                            <a:srgbClr val="5E17E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 day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9662" y="647370"/>
            <a:ext cx="20734528" cy="1584960"/>
            <a:chOff x="0" y="0"/>
            <a:chExt cx="27646037" cy="21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45996" cy="2113280"/>
            </a:xfrm>
            <a:custGeom>
              <a:avLst/>
              <a:gdLst/>
              <a:ahLst/>
              <a:cxnLst/>
              <a:rect r="r" b="b" t="t" l="l"/>
              <a:pathLst>
                <a:path h="2113280" w="27645996">
                  <a:moveTo>
                    <a:pt x="0" y="0"/>
                  </a:moveTo>
                  <a:lnTo>
                    <a:pt x="27645996" y="0"/>
                  </a:lnTo>
                  <a:lnTo>
                    <a:pt x="27645996" y="2113280"/>
                  </a:lnTo>
                  <a:lnTo>
                    <a:pt x="0" y="211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491" r="0" b="-1649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48512" y="1028700"/>
            <a:ext cx="7444730" cy="84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2"/>
              </a:lnSpc>
            </a:pPr>
            <a:r>
              <a:rPr lang="en-US" b="true" sz="5599" spc="-1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outcomes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77715" y="3333651"/>
            <a:ext cx="15904597" cy="588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9"/>
              </a:lnSpc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Pet Care Website successfully delivered:</a:t>
            </a:r>
          </a:p>
          <a:p>
            <a:pPr algn="ctr" marL="823452" indent="-411726" lvl="1">
              <a:lnSpc>
                <a:spcPts val="5799"/>
              </a:lnSpc>
              <a:buFont typeface="Arial"/>
              <a:buChar char="•"/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fully coded frontend interface displaying pet listings and an adoption inquiry form.</a:t>
            </a:r>
          </a:p>
          <a:p>
            <a:pPr algn="ctr" marL="823452" indent="-411726" lvl="1">
              <a:lnSpc>
                <a:spcPts val="5799"/>
              </a:lnSpc>
              <a:buFont typeface="Arial"/>
              <a:buChar char="•"/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Responsive design compatible across mobile, tablet, and desktop devices.</a:t>
            </a:r>
          </a:p>
          <a:p>
            <a:pPr algn="ctr" marL="823452" indent="-411726" lvl="1">
              <a:lnSpc>
                <a:spcPts val="5799"/>
              </a:lnSpc>
              <a:buFont typeface="Arial"/>
              <a:buChar char="•"/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Attractive and simple UI encouraging users to explore pet options.</a:t>
            </a:r>
          </a:p>
          <a:p>
            <a:pPr algn="ctr" marL="823452" indent="-411726" lvl="1">
              <a:lnSpc>
                <a:spcPts val="5799"/>
              </a:lnSpc>
              <a:buFont typeface="Arial"/>
              <a:buChar char="•"/>
            </a:pPr>
            <a:r>
              <a:rPr lang="en-US" sz="3602" spc="-1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foundation for future backend and database integration to manage adoption requests efficiently.</a:t>
            </a:r>
          </a:p>
          <a:p>
            <a:pPr algn="ctr" marL="823522" indent="-274507" lvl="2">
              <a:lnSpc>
                <a:spcPts val="579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201017" y="-136919"/>
            <a:ext cx="2878623" cy="2810787"/>
            <a:chOff x="0" y="0"/>
            <a:chExt cx="3518408" cy="3435495"/>
          </a:xfrm>
        </p:grpSpPr>
        <p:sp>
          <p:nvSpPr>
            <p:cNvPr name="Freeform 7" id="7" descr="KIET Group of Institutions, Delhi-NCR - YouTube"/>
            <p:cNvSpPr/>
            <p:nvPr/>
          </p:nvSpPr>
          <p:spPr>
            <a:xfrm flipH="false" flipV="false" rot="0">
              <a:off x="0" y="0"/>
              <a:ext cx="3518408" cy="3435477"/>
            </a:xfrm>
            <a:custGeom>
              <a:avLst/>
              <a:gdLst/>
              <a:ahLst/>
              <a:cxnLst/>
              <a:rect r="r" b="b" t="t" l="l"/>
              <a:pathLst>
                <a:path h="3435477" w="3518408">
                  <a:moveTo>
                    <a:pt x="0" y="0"/>
                  </a:moveTo>
                  <a:lnTo>
                    <a:pt x="3518408" y="0"/>
                  </a:lnTo>
                  <a:lnTo>
                    <a:pt x="3518408" y="3435477"/>
                  </a:lnTo>
                  <a:lnTo>
                    <a:pt x="0" y="343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06" r="0" b="-1207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B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8262">
            <a:off x="3103696" y="2075856"/>
            <a:ext cx="11385142" cy="5704761"/>
          </a:xfrm>
          <a:custGeom>
            <a:avLst/>
            <a:gdLst/>
            <a:ahLst/>
            <a:cxnLst/>
            <a:rect r="r" b="b" t="t" l="l"/>
            <a:pathLst>
              <a:path h="5704761" w="11385142">
                <a:moveTo>
                  <a:pt x="0" y="0"/>
                </a:moveTo>
                <a:lnTo>
                  <a:pt x="11385142" y="0"/>
                </a:lnTo>
                <a:lnTo>
                  <a:pt x="11385142" y="5704761"/>
                </a:lnTo>
                <a:lnTo>
                  <a:pt x="0" y="5704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" t="0" r="-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295128">
            <a:off x="5066735" y="3109911"/>
            <a:ext cx="8188833" cy="291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82"/>
              </a:lnSpc>
            </a:pPr>
            <a:r>
              <a:rPr lang="en-US" sz="13980" spc="-419">
                <a:solidFill>
                  <a:srgbClr val="522A0F"/>
                </a:solidFill>
                <a:latin typeface="Lucky Bones"/>
                <a:ea typeface="Lucky Bones"/>
                <a:cs typeface="Lucky Bones"/>
                <a:sym typeface="Lucky Bones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-354425">
            <a:off x="5820928" y="6427746"/>
            <a:ext cx="7321752" cy="76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3199">
                <a:solidFill>
                  <a:srgbClr val="522A0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Our project aims to encourage pet adoption and spread awareness ❤️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DAG06pf7OJc</dc:identifier>
  <dcterms:modified xsi:type="dcterms:W3CDTF">2011-08-01T06:04:30Z</dcterms:modified>
  <cp:revision>1</cp:revision>
  <dc:title>ppt web.pptx</dc:title>
</cp:coreProperties>
</file>